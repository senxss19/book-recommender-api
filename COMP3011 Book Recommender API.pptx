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1" r:id="rId2"/>
    <p:sldId id="405" r:id="rId3"/>
    <p:sldId id="390" r:id="rId4"/>
    <p:sldId id="394" r:id="rId5"/>
    <p:sldId id="395" r:id="rId6"/>
    <p:sldId id="404" r:id="rId7"/>
    <p:sldId id="392" r:id="rId8"/>
    <p:sldId id="396" r:id="rId9"/>
    <p:sldId id="399" r:id="rId10"/>
    <p:sldId id="397" r:id="rId11"/>
    <p:sldId id="400" r:id="rId12"/>
    <p:sldId id="401" r:id="rId13"/>
    <p:sldId id="398" r:id="rId14"/>
    <p:sldId id="402" r:id="rId15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00"/>
    <a:srgbClr val="FF9999"/>
    <a:srgbClr val="00CC99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D7492-4C8A-41FE-9AA8-730C1AC86C09}" v="1" dt="2026-02-13T08:25:09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94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1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hd Ammar Alsalka" userId="8871e4ca-c9f8-496c-8a1d-4899769cdaff" providerId="ADAL" clId="{145BA59E-98C2-4996-B7C6-7553777A6F7A}"/>
    <pc:docChg chg="modSld">
      <pc:chgData name="Mhd Ammar Alsalka" userId="8871e4ca-c9f8-496c-8a1d-4899769cdaff" providerId="ADAL" clId="{145BA59E-98C2-4996-B7C6-7553777A6F7A}" dt="2026-02-13T08:26:19.318" v="0" actId="1076"/>
      <pc:docMkLst>
        <pc:docMk/>
      </pc:docMkLst>
      <pc:sldChg chg="modSp mod">
        <pc:chgData name="Mhd Ammar Alsalka" userId="8871e4ca-c9f8-496c-8a1d-4899769cdaff" providerId="ADAL" clId="{145BA59E-98C2-4996-B7C6-7553777A6F7A}" dt="2026-02-13T08:26:19.318" v="0" actId="1076"/>
        <pc:sldMkLst>
          <pc:docMk/>
          <pc:sldMk cId="1338858000" sldId="406"/>
        </pc:sldMkLst>
        <pc:spChg chg="mod">
          <ac:chgData name="Mhd Ammar Alsalka" userId="8871e4ca-c9f8-496c-8a1d-4899769cdaff" providerId="ADAL" clId="{145BA59E-98C2-4996-B7C6-7553777A6F7A}" dt="2026-02-13T08:26:19.318" v="0" actId="1076"/>
          <ac:spMkLst>
            <pc:docMk/>
            <pc:sldMk cId="1338858000" sldId="406"/>
            <ac:spMk id="2" creationId="{A42658BB-D295-A5CB-46D6-75BF961C5C1D}"/>
          </ac:spMkLst>
        </pc:spChg>
      </pc:sldChg>
    </pc:docChg>
  </pc:docChgLst>
  <pc:docChgLst>
    <pc:chgData name="Mhd Ammar Alsalka" userId="8871e4ca-c9f8-496c-8a1d-4899769cdaff" providerId="ADAL" clId="{94FBD1A9-B7BE-4B9F-9C3B-C87094D1CED8}"/>
    <pc:docChg chg="modSld">
      <pc:chgData name="Mhd Ammar Alsalka" userId="8871e4ca-c9f8-496c-8a1d-4899769cdaff" providerId="ADAL" clId="{94FBD1A9-B7BE-4B9F-9C3B-C87094D1CED8}" dt="2020-02-12T08:05:52.850" v="3" actId="20577"/>
      <pc:docMkLst>
        <pc:docMk/>
      </pc:docMkLst>
      <pc:sldChg chg="modSp">
        <pc:chgData name="Mhd Ammar Alsalka" userId="8871e4ca-c9f8-496c-8a1d-4899769cdaff" providerId="ADAL" clId="{94FBD1A9-B7BE-4B9F-9C3B-C87094D1CED8}" dt="2020-02-12T08:05:52.850" v="3" actId="20577"/>
        <pc:sldMkLst>
          <pc:docMk/>
          <pc:sldMk cId="188208788" sldId="400"/>
        </pc:sldMkLst>
      </pc:sldChg>
      <pc:sldChg chg="addSp modSp modAnim">
        <pc:chgData name="Mhd Ammar Alsalka" userId="8871e4ca-c9f8-496c-8a1d-4899769cdaff" providerId="ADAL" clId="{94FBD1A9-B7BE-4B9F-9C3B-C87094D1CED8}" dt="2020-02-12T07:35:18.788" v="1" actId="1076"/>
        <pc:sldMkLst>
          <pc:docMk/>
          <pc:sldMk cId="1338858000" sldId="4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135" cy="34062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286" y="1"/>
            <a:ext cx="4302135" cy="34062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r">
              <a:defRPr sz="1200"/>
            </a:lvl1pPr>
          </a:lstStyle>
          <a:p>
            <a:fld id="{E4572711-3DD1-47E0-B7EA-EE3E304EA80A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7054"/>
            <a:ext cx="4302135" cy="34062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286" y="6457054"/>
            <a:ext cx="4302135" cy="34062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r">
              <a:defRPr sz="1200"/>
            </a:lvl1pPr>
          </a:lstStyle>
          <a:p>
            <a:fld id="{93A04EDD-4871-4710-811E-EBBEF9D4E0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062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1543" cy="341064"/>
          </a:xfrm>
          <a:prstGeom prst="rect">
            <a:avLst/>
          </a:prstGeom>
        </p:spPr>
        <p:txBody>
          <a:bodyPr vert="horz" lIns="95560" tIns="47780" rIns="95560" bIns="4778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5560" tIns="47780" rIns="95560" bIns="47780" rtlCol="0"/>
          <a:lstStyle>
            <a:lvl1pPr algn="r">
              <a:defRPr sz="1300"/>
            </a:lvl1pPr>
          </a:lstStyle>
          <a:p>
            <a:fld id="{0524A361-EE49-43B9-B93A-9723C33075F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0" tIns="47780" rIns="95560" bIns="4778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5560" tIns="47780" rIns="95560" bIns="477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301543" cy="341063"/>
          </a:xfrm>
          <a:prstGeom prst="rect">
            <a:avLst/>
          </a:prstGeom>
        </p:spPr>
        <p:txBody>
          <a:bodyPr vert="horz" lIns="95560" tIns="47780" rIns="95560" bIns="4778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5560" tIns="47780" rIns="95560" bIns="47780" rtlCol="0" anchor="b"/>
          <a:lstStyle>
            <a:lvl1pPr algn="r">
              <a:defRPr sz="1300"/>
            </a:lvl1pPr>
          </a:lstStyle>
          <a:p>
            <a:fld id="{CCAD1D6C-4BAC-4215-8F89-3E7627231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26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D1D6C-4BAC-4215-8F89-3E762723100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938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9248C-DD7F-4805-97AA-9598BEA424C2}" type="datetime1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2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BD54-5237-423B-BDD1-043A6C32FDC3}" type="datetime1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52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43EA-0325-4B9F-9311-E031EA14C699}" type="datetime1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95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241C-73D4-434F-9A32-E8CAF24C1F6F}" type="datetime1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36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18AC-DFAB-42C0-A5B6-AF2ED48EA763}" type="datetime1">
              <a:rPr lang="en-GB" smtClean="0"/>
              <a:t>14/03/2026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03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E31-8997-49B8-AD7A-37FC34C2B014}" type="datetime1">
              <a:rPr lang="en-GB" smtClean="0"/>
              <a:t>14/03/2026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53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456E6-9372-411B-A91F-5067A0E4FAF0}" type="datetime1">
              <a:rPr lang="en-GB" smtClean="0"/>
              <a:t>14/03/2026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97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BE6-682B-4B5D-952A-4EB51BC8A88F}" type="datetime1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55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48C92-C6F3-4EFA-9E95-F6D03F8BAB24}" type="datetime1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93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68CE-F766-4E2E-9867-D6247CD7A6C9}" type="datetime1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20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35FC-F454-4257-B18F-D55F7C9F1AA6}" type="datetime1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COMP3011, MA ALSALKA, 2025-2026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99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752AD-64E1-4494-B6DA-B648788CB625}" type="datetime1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COMP3011, MA ALSALKA, 2025-2026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327E3-8A8B-41CA-B105-F8F9DF69B8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43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jealousleopard/goodreadsbooks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/>
          <p:cNvSpPr txBox="1">
            <a:spLocks noChangeArrowheads="1"/>
          </p:cNvSpPr>
          <p:nvPr/>
        </p:nvSpPr>
        <p:spPr bwMode="auto">
          <a:xfrm>
            <a:off x="1615550" y="153159"/>
            <a:ext cx="9179135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Comic Sans MS" panose="030F0702030302020204" pitchFamily="66" charset="0"/>
              </a:rPr>
              <a:t>Book Recommender API</a:t>
            </a:r>
          </a:p>
          <a:p>
            <a:pPr algn="ctr" eaLnBrk="1" hangingPunct="1"/>
            <a:r>
              <a:rPr lang="en-US" altLang="en-US" sz="2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COMP3011</a:t>
            </a:r>
          </a:p>
        </p:txBody>
      </p:sp>
      <p:sp>
        <p:nvSpPr>
          <p:cNvPr id="4" name="TextBox 20"/>
          <p:cNvSpPr txBox="1">
            <a:spLocks noChangeArrowheads="1"/>
          </p:cNvSpPr>
          <p:nvPr/>
        </p:nvSpPr>
        <p:spPr bwMode="auto">
          <a:xfrm>
            <a:off x="3494145" y="5324324"/>
            <a:ext cx="52037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 b="1" i="1" dirty="0">
                <a:solidFill>
                  <a:srgbClr val="C00000"/>
                </a:solidFill>
                <a:latin typeface="Comic Sans MS" panose="030F0702030302020204" pitchFamily="66" charset="0"/>
              </a:rPr>
              <a:t>Sen Xu</a:t>
            </a:r>
            <a:endParaRPr lang="en-US" altLang="en-US" b="1" i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9218" name="Picture 2" descr="Image result for university of leed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050" y="5585934"/>
            <a:ext cx="2218690" cy="64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3976" y="6277943"/>
            <a:ext cx="232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School of Computing</a:t>
            </a:r>
          </a:p>
        </p:txBody>
      </p:sp>
      <p:pic>
        <p:nvPicPr>
          <p:cNvPr id="3" name="Picture 2" descr="https://cdn.pixabay.com/photo/2018/01/13/08/30/network-3079789_960_72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103" y="1750663"/>
            <a:ext cx="7586782" cy="314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B79DED-3EFB-4F80-B4A8-2F16D446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9070" y="5910728"/>
            <a:ext cx="4114800" cy="365125"/>
          </a:xfrm>
        </p:spPr>
        <p:txBody>
          <a:bodyPr/>
          <a:lstStyle/>
          <a:p>
            <a:r>
              <a:rPr lang="en-GB" sz="1600" b="1" i="1" dirty="0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201618279</a:t>
            </a:r>
            <a:endParaRPr lang="en-GB" sz="2800" b="1" i="1" dirty="0">
              <a:solidFill>
                <a:srgbClr val="C0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87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092CA3-0285-41C1-99C7-0C2744F26DBD}"/>
              </a:ext>
            </a:extLst>
          </p:cNvPr>
          <p:cNvSpPr/>
          <p:nvPr/>
        </p:nvSpPr>
        <p:spPr>
          <a:xfrm>
            <a:off x="3127737" y="136525"/>
            <a:ext cx="60653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1 Project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16466-93F1-4D2D-83A4-40AC00FD6D66}"/>
              </a:ext>
            </a:extLst>
          </p:cNvPr>
          <p:cNvSpPr/>
          <p:nvPr/>
        </p:nvSpPr>
        <p:spPr>
          <a:xfrm>
            <a:off x="801279" y="945462"/>
            <a:ext cx="1071827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Goal</a:t>
            </a:r>
          </a:p>
          <a:p>
            <a:r>
              <a:rPr lang="en-US" altLang="zh-CN" sz="2400" dirty="0"/>
              <a:t>Build a </a:t>
            </a:r>
            <a:r>
              <a:rPr lang="en-US" altLang="zh-CN" sz="2400" b="1" dirty="0"/>
              <a:t>RESTful Book Recommendation API</a:t>
            </a:r>
            <a:r>
              <a:rPr lang="en-US" altLang="zh-CN" sz="2400" dirty="0"/>
              <a:t>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Stores book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Provides recommendation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Supports analytics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Exposes REST APIs</a:t>
            </a:r>
          </a:p>
          <a:p>
            <a:r>
              <a:rPr lang="en-US" altLang="zh-CN" sz="2400" b="1" dirty="0"/>
              <a:t>Core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Book CRUD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Keyword based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Rating distribution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Publisher statistics</a:t>
            </a:r>
          </a:p>
          <a:p>
            <a:r>
              <a:rPr lang="en-US" altLang="zh-CN" sz="2400" b="1" dirty="0"/>
              <a:t>Dataset</a:t>
            </a:r>
          </a:p>
          <a:p>
            <a:r>
              <a:rPr lang="en-US" altLang="zh-CN" sz="2400" dirty="0">
                <a:hlinkClick r:id="rId2"/>
              </a:rPr>
              <a:t>Goodreads Books Dataset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A1461B-429F-4339-974D-667E66192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437" y="1844844"/>
            <a:ext cx="4894933" cy="399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2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8268" y="837211"/>
            <a:ext cx="2918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Backend Architecture</a:t>
            </a:r>
            <a:endParaRPr lang="en-GB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030575" y="-9175"/>
            <a:ext cx="60653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2 System Architecture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3741717" y="4159939"/>
            <a:ext cx="1837392" cy="646331"/>
          </a:xfrm>
          <a:prstGeom prst="wedgeRectCallout">
            <a:avLst>
              <a:gd name="adj1" fmla="val -101846"/>
              <a:gd name="adj2" fmla="val 14381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GB" altLang="zh-CN" dirty="0">
                <a:solidFill>
                  <a:schemeClr val="tx1"/>
                </a:solidFill>
              </a:rPr>
              <a:t>Three-layer design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64907B-8472-4D49-8E3F-798315197B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5" y="1527194"/>
            <a:ext cx="2274157" cy="5265491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46FC5B21-8AD1-4BE2-AC89-436F5711F7BA}"/>
              </a:ext>
            </a:extLst>
          </p:cNvPr>
          <p:cNvSpPr/>
          <p:nvPr/>
        </p:nvSpPr>
        <p:spPr>
          <a:xfrm>
            <a:off x="6577187" y="837210"/>
            <a:ext cx="2918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Backend Architecture</a:t>
            </a:r>
            <a:endParaRPr lang="en-GB" sz="2400" b="1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9E6D02F-CBBC-4C7A-A3A2-C845D5C1E040}"/>
              </a:ext>
            </a:extLst>
          </p:cNvPr>
          <p:cNvSpPr/>
          <p:nvPr/>
        </p:nvSpPr>
        <p:spPr>
          <a:xfrm>
            <a:off x="6694337" y="1862680"/>
            <a:ext cx="29181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Django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Books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API Endpoints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Database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4900EBF-FF98-46F7-BE28-37FA49BD01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840" y="1527194"/>
            <a:ext cx="2195811" cy="415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8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build="p"/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47871" y="50588"/>
            <a:ext cx="53174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3 Technology Stack</a:t>
            </a:r>
            <a:endParaRPr lang="en-GB" sz="24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93997BF-E872-4C97-B068-85AA8BEDA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44967"/>
              </p:ext>
            </p:extLst>
          </p:nvPr>
        </p:nvGraphicFramePr>
        <p:xfrm>
          <a:off x="2251693" y="787448"/>
          <a:ext cx="737919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7527">
                  <a:extLst>
                    <a:ext uri="{9D8B030D-6E8A-4147-A177-3AD203B41FA5}">
                      <a16:colId xmlns:a16="http://schemas.microsoft.com/office/drawing/2014/main" val="3604567699"/>
                    </a:ext>
                  </a:extLst>
                </a:gridCol>
                <a:gridCol w="4741668">
                  <a:extLst>
                    <a:ext uri="{9D8B030D-6E8A-4147-A177-3AD203B41FA5}">
                      <a16:colId xmlns:a16="http://schemas.microsoft.com/office/drawing/2014/main" val="3592438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571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Django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17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API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Django REST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58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drf-spectacular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054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499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Goodreads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41225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0A525D1F-BCAF-4700-BE4B-84C14F253F09}"/>
              </a:ext>
            </a:extLst>
          </p:cNvPr>
          <p:cNvSpPr txBox="1"/>
          <p:nvPr/>
        </p:nvSpPr>
        <p:spPr>
          <a:xfrm>
            <a:off x="4468090" y="3835729"/>
            <a:ext cx="49906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Why did I choose Python + Django?</a:t>
            </a:r>
          </a:p>
          <a:p>
            <a:endParaRPr lang="en-US" altLang="zh-CN" dirty="0"/>
          </a:p>
          <a:p>
            <a:r>
              <a:rPr lang="en-US" altLang="zh-CN" dirty="0"/>
              <a:t>• Rapid development</a:t>
            </a:r>
            <a:br>
              <a:rPr lang="en-US" altLang="zh-CN" dirty="0"/>
            </a:br>
            <a:r>
              <a:rPr lang="en-US" altLang="zh-CN" dirty="0"/>
              <a:t>• Clean architecture</a:t>
            </a:r>
            <a:br>
              <a:rPr lang="en-US" altLang="zh-CN" dirty="0"/>
            </a:br>
            <a:r>
              <a:rPr lang="en-US" altLang="zh-CN" dirty="0"/>
              <a:t>• Built-in ORM</a:t>
            </a:r>
            <a:br>
              <a:rPr lang="en-US" altLang="zh-CN" dirty="0"/>
            </a:br>
            <a:r>
              <a:rPr lang="en-US" altLang="zh-CN" dirty="0"/>
              <a:t>• Strong ecosystem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69D518A-1E8E-4BEF-8C94-1015D333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040" y="1179096"/>
            <a:ext cx="466848" cy="3956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6465655-BDD0-44D3-8516-32409588E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579" y="1574730"/>
            <a:ext cx="2054309" cy="42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9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96512" y="0"/>
            <a:ext cx="41879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4 Database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2422150" y="1000225"/>
            <a:ext cx="255319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Main Model</a:t>
            </a:r>
          </a:p>
          <a:p>
            <a:r>
              <a:rPr lang="en-US" altLang="zh-CN" dirty="0"/>
              <a:t>Book Model</a:t>
            </a:r>
          </a:p>
          <a:p>
            <a:r>
              <a:rPr lang="en-US" altLang="zh-CN" dirty="0"/>
              <a:t>Fields:</a:t>
            </a:r>
          </a:p>
          <a:p>
            <a:pPr lvl="1"/>
            <a:r>
              <a:rPr lang="en-US" altLang="zh-CN" dirty="0"/>
              <a:t>title</a:t>
            </a:r>
            <a:br>
              <a:rPr lang="en-US" altLang="zh-CN" dirty="0"/>
            </a:br>
            <a:r>
              <a:rPr lang="en-US" altLang="zh-CN" dirty="0"/>
              <a:t>authors</a:t>
            </a:r>
            <a:br>
              <a:rPr lang="en-US" altLang="zh-CN" dirty="0"/>
            </a:br>
            <a:r>
              <a:rPr lang="en-US" altLang="zh-CN" dirty="0" err="1"/>
              <a:t>average_rating</a:t>
            </a:r>
            <a:br>
              <a:rPr lang="en-US" altLang="zh-CN" dirty="0"/>
            </a:br>
            <a:r>
              <a:rPr lang="en-US" altLang="zh-CN" dirty="0"/>
              <a:t>publisher</a:t>
            </a:r>
            <a:br>
              <a:rPr lang="en-US" altLang="zh-CN" dirty="0"/>
            </a:br>
            <a:r>
              <a:rPr lang="en-US" altLang="zh-CN" dirty="0" err="1"/>
              <a:t>ratings_count</a:t>
            </a:r>
            <a:br>
              <a:rPr lang="en-US" altLang="zh-CN" dirty="0"/>
            </a:br>
            <a:r>
              <a:rPr lang="en-US" altLang="zh-CN" dirty="0" err="1"/>
              <a:t>publication_date</a:t>
            </a:r>
            <a:br>
              <a:rPr lang="en-US" altLang="zh-CN" dirty="0"/>
            </a:br>
            <a:r>
              <a:rPr lang="en-US" altLang="zh-CN" dirty="0" err="1"/>
              <a:t>language_code</a:t>
            </a:r>
            <a:endParaRPr lang="en-GB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C6DCE61-E867-4FD9-93C2-492F099BA891}"/>
              </a:ext>
            </a:extLst>
          </p:cNvPr>
          <p:cNvSpPr/>
          <p:nvPr/>
        </p:nvSpPr>
        <p:spPr>
          <a:xfrm>
            <a:off x="2422150" y="4370330"/>
            <a:ext cx="380010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Why Django 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Simplifies database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Avoids raw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Supports migrations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2462D4-4266-4876-A096-62EC0C6913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549" y="777833"/>
            <a:ext cx="3338230" cy="507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0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57600" y="146304"/>
            <a:ext cx="53035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5 API Design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E20BA9-2924-4D90-A54E-D8CF13F36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983238"/>
              </p:ext>
            </p:extLst>
          </p:nvPr>
        </p:nvGraphicFramePr>
        <p:xfrm>
          <a:off x="2032000" y="719666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327977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024047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47398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07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/api/books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list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97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/api/books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175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/api/books/{id}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retrieve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68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/api/recommend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recommend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62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/api/analytics/ratings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rating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376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/api/analytics/publishers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publisher statistics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3386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1D6D3C4-87DF-40E4-94CA-04D46FC9BDA8}"/>
              </a:ext>
            </a:extLst>
          </p:cNvPr>
          <p:cNvSpPr txBox="1"/>
          <p:nvPr/>
        </p:nvSpPr>
        <p:spPr>
          <a:xfrm>
            <a:off x="1954811" y="3434024"/>
            <a:ext cx="22971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Response Format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"code":0,</a:t>
            </a:r>
          </a:p>
          <a:p>
            <a:r>
              <a:rPr lang="en-US" altLang="zh-CN" dirty="0"/>
              <a:t>  "</a:t>
            </a:r>
            <a:r>
              <a:rPr lang="en-US" altLang="zh-CN" dirty="0" err="1"/>
              <a:t>message":"success</a:t>
            </a:r>
            <a:r>
              <a:rPr lang="en-US" altLang="zh-CN" dirty="0"/>
              <a:t>",</a:t>
            </a:r>
          </a:p>
          <a:p>
            <a:r>
              <a:rPr lang="en-US" altLang="zh-CN" dirty="0"/>
              <a:t>  "data":{}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E55719-D8F9-4D1F-88EB-7FF5D5A6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517" y="3429000"/>
            <a:ext cx="5809482" cy="312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07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50299" y="152400"/>
            <a:ext cx="87695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6 Recommendation Algorithm</a:t>
            </a:r>
            <a:endParaRPr lang="en-GB" sz="20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1497" y="1071123"/>
            <a:ext cx="6812139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Simple Recommendation Strategy</a:t>
            </a:r>
          </a:p>
          <a:p>
            <a:r>
              <a:rPr lang="en-US" altLang="zh-CN" sz="2800" b="1" dirty="0"/>
              <a:t>Search keyword from:</a:t>
            </a:r>
          </a:p>
          <a:p>
            <a:r>
              <a:rPr lang="en-GB" sz="2800" dirty="0"/>
              <a:t>title</a:t>
            </a:r>
          </a:p>
          <a:p>
            <a:r>
              <a:rPr lang="en-GB" sz="2800" dirty="0"/>
              <a:t>author</a:t>
            </a:r>
          </a:p>
          <a:p>
            <a:r>
              <a:rPr lang="en-US" altLang="zh-CN" sz="2800" b="1" dirty="0"/>
              <a:t>Query:</a:t>
            </a:r>
          </a:p>
          <a:p>
            <a:r>
              <a:rPr lang="en-GB" sz="2800" dirty="0"/>
              <a:t>title__</a:t>
            </a:r>
            <a:r>
              <a:rPr lang="en-GB" sz="2800" dirty="0" err="1"/>
              <a:t>icontains</a:t>
            </a:r>
            <a:endParaRPr lang="en-GB" sz="2800" dirty="0"/>
          </a:p>
          <a:p>
            <a:r>
              <a:rPr lang="en-GB" sz="2800" dirty="0"/>
              <a:t>authors__</a:t>
            </a:r>
            <a:r>
              <a:rPr lang="en-GB" sz="2800" dirty="0" err="1"/>
              <a:t>icontains</a:t>
            </a:r>
            <a:endParaRPr lang="en-GB" sz="2800" dirty="0"/>
          </a:p>
          <a:p>
            <a:r>
              <a:rPr lang="en-US" altLang="zh-CN" sz="2800" b="1" dirty="0"/>
              <a:t>Ranking:</a:t>
            </a:r>
          </a:p>
          <a:p>
            <a:r>
              <a:rPr lang="en-GB" sz="2800" dirty="0" err="1"/>
              <a:t>average_rating</a:t>
            </a:r>
            <a:r>
              <a:rPr lang="en-GB" sz="2800" dirty="0"/>
              <a:t> DESC</a:t>
            </a:r>
          </a:p>
          <a:p>
            <a:r>
              <a:rPr lang="en-US" altLang="zh-CN" sz="2800" b="1" dirty="0"/>
              <a:t>Return:</a:t>
            </a:r>
          </a:p>
          <a:p>
            <a:r>
              <a:rPr lang="en-US" altLang="zh-CN" sz="2800" dirty="0"/>
              <a:t>Top 50 books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49D615-8B40-4E23-85BC-3EB0F4BBE6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798" y="1430975"/>
            <a:ext cx="2180822" cy="483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2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06525" y="152776"/>
            <a:ext cx="53227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7 API Documentation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0366B39-A498-43A2-80BE-D480C57C3EE8}"/>
              </a:ext>
            </a:extLst>
          </p:cNvPr>
          <p:cNvSpPr/>
          <p:nvPr/>
        </p:nvSpPr>
        <p:spPr>
          <a:xfrm>
            <a:off x="461497" y="1071123"/>
            <a:ext cx="68121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Generated using: </a:t>
            </a:r>
            <a:r>
              <a:rPr lang="en-GB" sz="2800" dirty="0" err="1"/>
              <a:t>drf</a:t>
            </a:r>
            <a:r>
              <a:rPr lang="en-GB" sz="2800" dirty="0"/>
              <a:t>-spectacular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52F186-CB1D-4865-A510-4A19FAFD1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89" y="1727532"/>
            <a:ext cx="4552950" cy="52387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2B37224-A38D-425B-AF73-DEA338D39F8B}"/>
              </a:ext>
            </a:extLst>
          </p:cNvPr>
          <p:cNvSpPr/>
          <p:nvPr/>
        </p:nvSpPr>
        <p:spPr>
          <a:xfrm>
            <a:off x="461497" y="2581308"/>
            <a:ext cx="444878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Send </a:t>
            </a:r>
            <a:r>
              <a:rPr lang="en-US" altLang="zh-CN" sz="2400" b="1" dirty="0" err="1"/>
              <a:t>schema.yml</a:t>
            </a:r>
            <a:r>
              <a:rPr lang="en-US" altLang="zh-CN" sz="2400" b="1" dirty="0"/>
              <a:t> to </a:t>
            </a:r>
            <a:r>
              <a:rPr lang="en-US" altLang="zh-CN" sz="2400" b="1" dirty="0" err="1"/>
              <a:t>GenAI</a:t>
            </a:r>
            <a:r>
              <a:rPr lang="en-US" altLang="zh-CN" sz="2400" b="1" dirty="0"/>
              <a:t>, </a:t>
            </a:r>
          </a:p>
          <a:p>
            <a:r>
              <a:rPr lang="en-US" altLang="zh-CN" sz="2400" b="1" dirty="0"/>
              <a:t>and then let AI generate a report</a:t>
            </a:r>
            <a:endParaRPr lang="zh-CN" altLang="en-US" sz="24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D7185F-69AD-4D2E-80B0-D021B91E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613" y="1206544"/>
            <a:ext cx="3667605" cy="511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4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47493" y="-36195"/>
            <a:ext cx="53227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8 Version Control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9912" y="1365799"/>
            <a:ext cx="454678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Repository hosted on:</a:t>
            </a:r>
          </a:p>
          <a:p>
            <a:r>
              <a:rPr lang="en-US" sz="2400" b="1" dirty="0"/>
              <a:t>GitHub</a:t>
            </a:r>
          </a:p>
          <a:p>
            <a:endParaRPr lang="en-US" sz="2400" dirty="0"/>
          </a:p>
          <a:p>
            <a:r>
              <a:rPr lang="en-US" sz="2400" dirty="0"/>
              <a:t>Version Control Workflow</a:t>
            </a:r>
          </a:p>
          <a:p>
            <a:r>
              <a:rPr lang="en-US" sz="2400" dirty="0"/>
              <a:t>• Feature-based commits</a:t>
            </a:r>
          </a:p>
          <a:p>
            <a:r>
              <a:rPr lang="en-US" sz="2400" dirty="0"/>
              <a:t>• Frequent commits</a:t>
            </a:r>
          </a:p>
          <a:p>
            <a:r>
              <a:rPr lang="en-US" sz="2400" dirty="0"/>
              <a:t>• Meaningful commit messages</a:t>
            </a:r>
            <a:endParaRPr lang="en-GB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3CFE41-C344-40B8-85BA-F1CCB263E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957" y="1870363"/>
            <a:ext cx="6031177" cy="233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4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04140" y="164210"/>
            <a:ext cx="58896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9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43" y="1169201"/>
            <a:ext cx="497639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Dataset Cleaning</a:t>
            </a:r>
          </a:p>
          <a:p>
            <a:r>
              <a:rPr lang="en-US" altLang="zh-CN" sz="2400" dirty="0"/>
              <a:t>Issues: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inconsistent data formats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date parsing</a:t>
            </a:r>
          </a:p>
          <a:p>
            <a:endParaRPr lang="en-US" altLang="zh-CN" sz="2400" dirty="0"/>
          </a:p>
          <a:p>
            <a:r>
              <a:rPr lang="en-US" altLang="zh-CN" sz="2400" b="1" dirty="0"/>
              <a:t>API Response Standardization</a:t>
            </a:r>
          </a:p>
          <a:p>
            <a:r>
              <a:rPr lang="en-US" altLang="zh-CN" sz="2400" dirty="0"/>
              <a:t>Needed consistent format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Success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Pagination</a:t>
            </a:r>
          </a:p>
          <a:p>
            <a:endParaRPr lang="en-US" altLang="zh-CN" sz="2400" dirty="0"/>
          </a:p>
          <a:p>
            <a:r>
              <a:rPr lang="en-US" altLang="zh-CN" sz="2400" b="1" dirty="0"/>
              <a:t>Performance</a:t>
            </a:r>
          </a:p>
          <a:p>
            <a:r>
              <a:rPr lang="en-US" altLang="zh-CN" sz="2400" dirty="0"/>
              <a:t>Large dataset required pagination.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0FB110-6994-472B-9651-33068762F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91" y="1496291"/>
            <a:ext cx="5102281" cy="484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5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8110" y="1096540"/>
            <a:ext cx="6800208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Key sections in the report: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• System architecture</a:t>
            </a:r>
            <a:br>
              <a:rPr lang="en-US" altLang="zh-CN" sz="2000" dirty="0"/>
            </a:br>
            <a:r>
              <a:rPr lang="en-US" altLang="zh-CN" sz="2000" dirty="0"/>
              <a:t>• Technology stack justification</a:t>
            </a:r>
            <a:br>
              <a:rPr lang="en-US" altLang="zh-CN" sz="2000" dirty="0"/>
            </a:br>
            <a:r>
              <a:rPr lang="en-US" altLang="zh-CN" sz="2000" dirty="0"/>
              <a:t>• Recommendation design</a:t>
            </a:r>
            <a:br>
              <a:rPr lang="en-US" altLang="zh-CN" sz="2000" dirty="0"/>
            </a:br>
            <a:r>
              <a:rPr lang="en-US" altLang="zh-CN" sz="2000" dirty="0"/>
              <a:t>• Testing methodology</a:t>
            </a:r>
            <a:br>
              <a:rPr lang="en-US" altLang="zh-CN" sz="2000" dirty="0"/>
            </a:br>
            <a:r>
              <a:rPr lang="en-US" altLang="zh-CN" sz="2000" dirty="0"/>
              <a:t>• Challenges and lessons learned</a:t>
            </a:r>
            <a:br>
              <a:rPr lang="en-US" altLang="zh-CN" sz="2000" dirty="0"/>
            </a:br>
            <a:r>
              <a:rPr lang="en-US" altLang="zh-CN" sz="2000" dirty="0"/>
              <a:t>• Limitations and future improvements</a:t>
            </a:r>
          </a:p>
          <a:p>
            <a:r>
              <a:rPr lang="en-US" altLang="zh-CN" sz="2000" dirty="0"/>
              <a:t>The report explains </a:t>
            </a:r>
            <a:r>
              <a:rPr lang="en-US" altLang="zh-CN" sz="2000" b="1" dirty="0"/>
              <a:t>design decisions and development process</a:t>
            </a:r>
            <a:r>
              <a:rPr lang="en-US" altLang="zh-CN" sz="20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8961" y="206578"/>
            <a:ext cx="7392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10 Technical Report Highlights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038046-CF0F-4EB4-B05F-A25B608E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968" y="1353983"/>
            <a:ext cx="4233863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8835" y="175558"/>
            <a:ext cx="7392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11 Limitations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and Future Improvements </a:t>
            </a:r>
            <a:endParaRPr lang="en-GB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35978" y="858805"/>
            <a:ext cx="75039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Current limitations:</a:t>
            </a:r>
          </a:p>
          <a:p>
            <a:r>
              <a:rPr lang="en-US" altLang="zh-CN" sz="2400" dirty="0"/>
              <a:t>• simple recommendation algorithm</a:t>
            </a:r>
            <a:br>
              <a:rPr lang="en-US" altLang="zh-CN" sz="2400" dirty="0"/>
            </a:br>
            <a:r>
              <a:rPr lang="en-US" altLang="zh-CN" sz="2400" dirty="0"/>
              <a:t>• no authentication system</a:t>
            </a:r>
            <a:br>
              <a:rPr lang="en-US" altLang="zh-CN" sz="2400" dirty="0"/>
            </a:br>
            <a:r>
              <a:rPr lang="en-US" altLang="zh-CN" sz="2400" dirty="0"/>
              <a:t>• SQLite not suitable for production</a:t>
            </a:r>
          </a:p>
          <a:p>
            <a:r>
              <a:rPr lang="en-US" altLang="zh-CN" sz="2400" dirty="0"/>
              <a:t>These limitations are discussed in the technical report.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60B8828-61AE-4846-AB79-1BA52699D87E}"/>
              </a:ext>
            </a:extLst>
          </p:cNvPr>
          <p:cNvSpPr/>
          <p:nvPr/>
        </p:nvSpPr>
        <p:spPr>
          <a:xfrm>
            <a:off x="1835978" y="2797797"/>
            <a:ext cx="78364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Advanced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collaborative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machine learning models</a:t>
            </a:r>
          </a:p>
          <a:p>
            <a:r>
              <a:rPr lang="en-US" altLang="zh-CN" sz="2400" b="1" dirty="0"/>
              <a:t>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Redis caching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PostgreSQL</a:t>
            </a:r>
          </a:p>
          <a:p>
            <a:r>
              <a:rPr lang="en-US" altLang="zh-CN" sz="2400" b="1" dirty="0"/>
              <a:t>User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user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user ratings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personalized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945803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71246" y="1221297"/>
            <a:ext cx="6510905" cy="4599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This project demonstrates: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• RESTful API design</a:t>
            </a:r>
            <a:br>
              <a:rPr lang="en-US" altLang="zh-CN" sz="2000" dirty="0"/>
            </a:br>
            <a:r>
              <a:rPr lang="en-US" altLang="zh-CN" sz="2000" dirty="0"/>
              <a:t>• backend architecture using Django</a:t>
            </a:r>
            <a:br>
              <a:rPr lang="en-US" altLang="zh-CN" sz="2000" dirty="0"/>
            </a:br>
            <a:r>
              <a:rPr lang="en-US" altLang="zh-CN" sz="2000" dirty="0"/>
              <a:t>• recommendation and analytics functionality</a:t>
            </a:r>
            <a:br>
              <a:rPr lang="en-US" altLang="zh-CN" sz="2000" dirty="0"/>
            </a:br>
            <a:r>
              <a:rPr lang="en-US" altLang="zh-CN" sz="2000" dirty="0"/>
              <a:t>• API documentation using </a:t>
            </a:r>
            <a:r>
              <a:rPr lang="en-US" altLang="zh-CN" sz="2000" dirty="0" err="1"/>
              <a:t>OpenAPI</a:t>
            </a:r>
            <a:endParaRPr lang="en-US" altLang="zh-CN" sz="2000" dirty="0"/>
          </a:p>
          <a:p>
            <a:r>
              <a:rPr lang="en-US" altLang="zh-CN" sz="2800" b="1" dirty="0"/>
              <a:t>Key skills developed: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backend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API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database modeling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2058" y="221635"/>
            <a:ext cx="58826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12 Conclusion</a:t>
            </a:r>
          </a:p>
        </p:txBody>
      </p:sp>
    </p:spTree>
    <p:extLst>
      <p:ext uri="{BB962C8B-B14F-4D97-AF65-F5344CB8AC3E}">
        <p14:creationId xmlns:p14="http://schemas.microsoft.com/office/powerpoint/2010/main" val="230673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63041" y="184702"/>
            <a:ext cx="8933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13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919911" y="1835590"/>
            <a:ext cx="58168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/>
              <a:t>Thank you for listening</a:t>
            </a:r>
          </a:p>
          <a:p>
            <a:endParaRPr lang="en-US" altLang="zh-CN" sz="3600" b="1" dirty="0"/>
          </a:p>
          <a:p>
            <a:endParaRPr lang="en-US" altLang="zh-CN" sz="3600" b="1" dirty="0"/>
          </a:p>
          <a:p>
            <a:r>
              <a:rPr lang="en-US" altLang="zh-CN" sz="36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179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4753</TotalTime>
  <Words>365</Words>
  <Application>Microsoft Office PowerPoint</Application>
  <PresentationFormat>宽屏</PresentationFormat>
  <Paragraphs>155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Arial</vt:lpstr>
      <vt:lpstr>Calibri</vt:lpstr>
      <vt:lpstr>Calibri Light</vt:lpstr>
      <vt:lpstr>Comic Sans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Mhd Ammar Alsalka</dc:creator>
  <cp:lastModifiedBy>situliang</cp:lastModifiedBy>
  <cp:revision>671</cp:revision>
  <cp:lastPrinted>2018-01-23T15:59:24Z</cp:lastPrinted>
  <dcterms:created xsi:type="dcterms:W3CDTF">2017-09-07T11:02:00Z</dcterms:created>
  <dcterms:modified xsi:type="dcterms:W3CDTF">2026-03-13T17:03:00Z</dcterms:modified>
</cp:coreProperties>
</file>